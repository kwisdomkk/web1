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0" r:id="rId3"/>
    <p:sldId id="259" r:id="rId4"/>
    <p:sldId id="284" r:id="rId5"/>
    <p:sldId id="288" r:id="rId6"/>
    <p:sldId id="287" r:id="rId7"/>
    <p:sldId id="286" r:id="rId8"/>
    <p:sldId id="285" r:id="rId9"/>
    <p:sldId id="271" r:id="rId10"/>
    <p:sldId id="291" r:id="rId11"/>
    <p:sldId id="289" r:id="rId12"/>
    <p:sldId id="29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3F0"/>
    <a:srgbClr val="E5E5E5"/>
    <a:srgbClr val="424242"/>
    <a:srgbClr val="EAEAEA"/>
    <a:srgbClr val="FFFFFF"/>
    <a:srgbClr val="E8E2E2"/>
    <a:srgbClr val="EBEDEE"/>
    <a:srgbClr val="E9E9E9"/>
    <a:srgbClr val="E4E3E1"/>
    <a:srgbClr val="E6E4E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43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428E6-48F8-48FF-A4B7-7E67A9EE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2431C-BDF3-4534-AED0-115F103A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173CB-01B9-4295-A804-D7D5973D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5FE16-77A0-484E-AEFD-FF537292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3DF25-2E65-49D3-8F6F-64AA1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BF82B-6C4A-4F6E-A362-B2BF3BD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E910-43A6-49D6-A1B5-99E3B0C2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DB3AC-66C4-4244-9CE9-54D71AA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2C886-882E-440B-806C-B06DE508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323D2-1426-48F9-A93B-729E72E2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3C500-C8D9-4EBC-AC73-9F7D65F0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6CD17-259A-42E8-B64F-04C51B7C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76CE5-8C59-42A2-A597-465DEAC8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312C6-1DCE-41BC-B5FA-FCFF5BE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39A5-69DC-4256-84CA-F160D48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2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37A4D-E01E-45A7-B166-73EE7826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D6757-7DA6-452C-9903-7536978F1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C3C8-286B-4184-8752-32BC3B11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A751A-C45B-42C8-893F-826B22E7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7210C-0EDE-42F3-A19F-12B3884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5D590-E2D2-480C-AF73-67D855C5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3AF97-024B-4EF1-B5B6-2E362F07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1334B-2AA0-4E32-9445-B691EAB2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2D6F-224F-4433-9752-11A255D3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4EE0E-6C7E-4160-86AA-136E97F9F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90FB9-7573-4784-A2A4-EDF1B3C5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4B30B-9C6A-4C96-8DB5-BCE9A09F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11AC4-2315-46FE-81A4-FE4B8434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D39CB-CB92-40B8-9B0C-3FBBBDF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2E25-F5B3-41EE-BD3B-6965721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FE1863-7C02-424B-AF80-CDB39671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9FB34-90A4-44A0-9CF8-F0BC0FE4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75702-4955-406C-919C-D35A1B84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6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E1BA2-3103-4DB2-AAEB-ED1BAE45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D5A54-85CA-45E5-9801-A3F15EEF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AF2F-D0EC-4C7E-8979-4C17E3F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3A167-5C7C-4CD2-A3E4-B6F94583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1CEB6-C525-4AEB-BB3E-B1315690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96C9A-4472-4D30-BFAE-60CB397B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F16-D603-4838-BA1C-0C9EEDE4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873C6-9D3A-4C62-9D46-88E6BAAB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9C646-865F-49F4-8BDD-FB9A4DEC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258A6-5AAD-4F1F-976F-EDB5FF72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4441E-0165-42AA-88F8-E53C4BAA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CA1E8-0D3C-4590-82E2-D018D6E6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74557-7FD9-416C-A8B5-FA6C4B55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215C-B55F-4988-B45B-7667E8C7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F3B86-5A48-411F-8090-830140A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9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20652-E714-4A15-826F-1B53C709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14771D-DE0A-400C-8C59-8670E31F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EACB7-48C9-4FB8-8D34-7F4C6393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1818-B6CD-47B0-9353-395CC539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08922-CAE3-4884-AE59-2BC74144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71B8A-69A6-43D4-8783-6456E3350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DA1AA-3028-44E4-B5B0-C19BF61D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CD8D-3E10-4F33-BC43-EACB05C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365BE-78DE-4079-B7F3-706874E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D9E52-1AFA-4482-A474-91FF4C5C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DF84FF-C412-430B-963A-695AABF7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7982-A999-4B0A-85F1-A0D5C550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EB6A-F091-464F-A783-1AE546A5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467A-4026-4A8D-97BF-715EF7FA6491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1D2C7-63D5-4319-952D-A6F8404F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17A-02D4-4037-9427-974339FE7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4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B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049933-013A-4DA4-B40F-DB900F3E4904}"/>
              </a:ext>
            </a:extLst>
          </p:cNvPr>
          <p:cNvSpPr txBox="1"/>
          <p:nvPr/>
        </p:nvSpPr>
        <p:spPr>
          <a:xfrm>
            <a:off x="3478780" y="2436553"/>
            <a:ext cx="5583581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 smtClean="0">
                <a:latin typeface="noto"/>
              </a:rPr>
              <a:t>브랜드 공식 </a:t>
            </a:r>
            <a:r>
              <a:rPr lang="ko-KR" altLang="en-US" sz="4000" dirty="0" smtClean="0">
                <a:latin typeface="noto"/>
              </a:rPr>
              <a:t>사이트 </a:t>
            </a:r>
            <a:r>
              <a:rPr lang="ko-KR" altLang="en-US" sz="4000" dirty="0" err="1" smtClean="0">
                <a:latin typeface="noto"/>
              </a:rPr>
              <a:t>리뉴얼</a:t>
            </a:r>
            <a:endParaRPr lang="en-US" altLang="ko-KR" sz="4000" dirty="0" smtClean="0">
              <a:latin typeface="noto"/>
            </a:endParaRPr>
          </a:p>
          <a:p>
            <a:pPr algn="ctr"/>
            <a:r>
              <a:rPr lang="en-US" altLang="ko-KR" sz="3600" dirty="0" smtClean="0">
                <a:latin typeface="noto"/>
              </a:rPr>
              <a:t>-</a:t>
            </a:r>
            <a:r>
              <a:rPr lang="ko-KR" altLang="en-US" sz="3600" dirty="0" err="1" smtClean="0">
                <a:latin typeface="noto"/>
              </a:rPr>
              <a:t>주세페</a:t>
            </a:r>
            <a:r>
              <a:rPr lang="ko-KR" altLang="en-US" sz="3600" dirty="0" smtClean="0">
                <a:latin typeface="noto"/>
              </a:rPr>
              <a:t> </a:t>
            </a:r>
            <a:r>
              <a:rPr lang="ko-KR" altLang="en-US" sz="3600" dirty="0" err="1" smtClean="0">
                <a:latin typeface="noto"/>
              </a:rPr>
              <a:t>주스티</a:t>
            </a:r>
            <a:r>
              <a:rPr lang="en-US" altLang="ko-KR" sz="3600" dirty="0">
                <a:latin typeface="noto"/>
              </a:rPr>
              <a:t>-</a:t>
            </a:r>
          </a:p>
        </p:txBody>
      </p:sp>
      <p:sp>
        <p:nvSpPr>
          <p:cNvPr id="4" name="양쪽 대괄호 3">
            <a:extLst>
              <a:ext uri="{FF2B5EF4-FFF2-40B4-BE49-F238E27FC236}">
                <a16:creationId xmlns:a16="http://schemas.microsoft.com/office/drawing/2014/main" id="{AEBCEBE6-A4C2-4FFB-B291-7650A0C5D976}"/>
              </a:ext>
            </a:extLst>
          </p:cNvPr>
          <p:cNvSpPr/>
          <p:nvPr/>
        </p:nvSpPr>
        <p:spPr>
          <a:xfrm>
            <a:off x="1407042" y="978195"/>
            <a:ext cx="9377916" cy="4550733"/>
          </a:xfrm>
          <a:prstGeom prst="bracketPair">
            <a:avLst>
              <a:gd name="adj" fmla="val 1116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54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95846" y="449866"/>
            <a:ext cx="2533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accent4"/>
                </a:solidFill>
              </a:rPr>
              <a:t>CONTENTS</a:t>
            </a:r>
            <a:endParaRPr lang="ko-KR" altLang="en-US" sz="3200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399932-852C-4FC0-818C-8BF64A587819}"/>
              </a:ext>
            </a:extLst>
          </p:cNvPr>
          <p:cNvSpPr/>
          <p:nvPr/>
        </p:nvSpPr>
        <p:spPr>
          <a:xfrm>
            <a:off x="1278428" y="2047946"/>
            <a:ext cx="1168400" cy="10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F9F526F-DC3D-45D0-97CC-857F415DEC53}"/>
              </a:ext>
            </a:extLst>
          </p:cNvPr>
          <p:cNvSpPr/>
          <p:nvPr/>
        </p:nvSpPr>
        <p:spPr>
          <a:xfrm>
            <a:off x="2688128" y="2047946"/>
            <a:ext cx="8242300" cy="10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514E13-0F73-4EAD-8EE0-CF531BE06C69}"/>
              </a:ext>
            </a:extLst>
          </p:cNvPr>
          <p:cNvSpPr txBox="1"/>
          <p:nvPr/>
        </p:nvSpPr>
        <p:spPr>
          <a:xfrm>
            <a:off x="1612432" y="2234823"/>
            <a:ext cx="428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spc="-300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3600" spc="-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8C8947-AD11-4BA5-AFC4-C97C91EBC161}"/>
              </a:ext>
            </a:extLst>
          </p:cNvPr>
          <p:cNvSpPr txBox="1"/>
          <p:nvPr/>
        </p:nvSpPr>
        <p:spPr>
          <a:xfrm>
            <a:off x="2945222" y="2281114"/>
            <a:ext cx="2587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 smtClean="0">
                <a:solidFill>
                  <a:schemeClr val="bg1"/>
                </a:solidFill>
                <a:latin typeface="+mn-ea"/>
              </a:rPr>
              <a:t>주제 </a:t>
            </a:r>
            <a:r>
              <a:rPr lang="en-US" altLang="ko-KR" sz="3200" spc="-3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3200" spc="-300" dirty="0" smtClean="0">
                <a:solidFill>
                  <a:schemeClr val="bg1"/>
                </a:solidFill>
                <a:latin typeface="+mn-ea"/>
              </a:rPr>
              <a:t>및 기획의도</a:t>
            </a:r>
            <a:endParaRPr lang="ko-KR" altLang="en-US" sz="3200" spc="-3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2B7112F-B03C-4AFD-888E-4D3992FEA2EE}"/>
              </a:ext>
            </a:extLst>
          </p:cNvPr>
          <p:cNvSpPr/>
          <p:nvPr/>
        </p:nvSpPr>
        <p:spPr>
          <a:xfrm>
            <a:off x="1278428" y="3367447"/>
            <a:ext cx="1168400" cy="10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0282083-F71D-404F-8759-15BB8B3A55F0}"/>
              </a:ext>
            </a:extLst>
          </p:cNvPr>
          <p:cNvSpPr/>
          <p:nvPr/>
        </p:nvSpPr>
        <p:spPr>
          <a:xfrm>
            <a:off x="2688128" y="3367447"/>
            <a:ext cx="8242300" cy="10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761A23-A89B-49A0-9103-FB499CB51CA7}"/>
              </a:ext>
            </a:extLst>
          </p:cNvPr>
          <p:cNvSpPr txBox="1"/>
          <p:nvPr/>
        </p:nvSpPr>
        <p:spPr>
          <a:xfrm>
            <a:off x="1623067" y="3564662"/>
            <a:ext cx="428322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3600" spc="-3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3600" spc="-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A4D990-7F19-4B43-A33C-FCB4182E2A55}"/>
              </a:ext>
            </a:extLst>
          </p:cNvPr>
          <p:cNvSpPr/>
          <p:nvPr/>
        </p:nvSpPr>
        <p:spPr>
          <a:xfrm>
            <a:off x="1278428" y="4686948"/>
            <a:ext cx="1168400" cy="104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460BB99-9F69-4AB9-84C3-FEA78F16C514}"/>
              </a:ext>
            </a:extLst>
          </p:cNvPr>
          <p:cNvSpPr/>
          <p:nvPr/>
        </p:nvSpPr>
        <p:spPr>
          <a:xfrm>
            <a:off x="2688128" y="4686948"/>
            <a:ext cx="8242300" cy="104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A1068E-2C3F-4AE4-B156-57FB340C7A5D}"/>
              </a:ext>
            </a:extLst>
          </p:cNvPr>
          <p:cNvSpPr txBox="1"/>
          <p:nvPr/>
        </p:nvSpPr>
        <p:spPr>
          <a:xfrm>
            <a:off x="1623067" y="4884163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endParaRPr lang="ko-KR" altLang="en-US" sz="3600" spc="-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C8947-AD11-4BA5-AFC4-C97C91EBC161}"/>
              </a:ext>
            </a:extLst>
          </p:cNvPr>
          <p:cNvSpPr txBox="1"/>
          <p:nvPr/>
        </p:nvSpPr>
        <p:spPr>
          <a:xfrm>
            <a:off x="2945222" y="3564662"/>
            <a:ext cx="3530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spc="-300" dirty="0" smtClean="0">
                <a:solidFill>
                  <a:schemeClr val="bg1"/>
                </a:solidFill>
                <a:latin typeface="+mn-ea"/>
              </a:rPr>
              <a:t>UI /UX </a:t>
            </a:r>
            <a:r>
              <a:rPr lang="ko-KR" altLang="en-US" sz="3200" spc="-300" dirty="0" smtClean="0">
                <a:solidFill>
                  <a:schemeClr val="bg1"/>
                </a:solidFill>
                <a:latin typeface="+mn-ea"/>
              </a:rPr>
              <a:t>스타일 및 디자인</a:t>
            </a:r>
            <a:endParaRPr lang="ko-KR" altLang="en-US" sz="3200" spc="-3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8C8947-AD11-4BA5-AFC4-C97C91EBC161}"/>
              </a:ext>
            </a:extLst>
          </p:cNvPr>
          <p:cNvSpPr txBox="1"/>
          <p:nvPr/>
        </p:nvSpPr>
        <p:spPr>
          <a:xfrm>
            <a:off x="2945222" y="4945719"/>
            <a:ext cx="2523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 smtClean="0">
                <a:solidFill>
                  <a:schemeClr val="bg1"/>
                </a:solidFill>
                <a:latin typeface="+mn-ea"/>
              </a:rPr>
              <a:t>자체평가 및 소감</a:t>
            </a:r>
            <a:endParaRPr lang="ko-KR" altLang="en-US" sz="3200" spc="-3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2087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245DB8B0-BCF9-4A29-9197-7A48AFB9D1DC}"/>
              </a:ext>
            </a:extLst>
          </p:cNvPr>
          <p:cNvGrpSpPr/>
          <p:nvPr/>
        </p:nvGrpSpPr>
        <p:grpSpPr>
          <a:xfrm>
            <a:off x="901700" y="2721114"/>
            <a:ext cx="2885726" cy="1415772"/>
            <a:chOff x="901700" y="2721114"/>
            <a:chExt cx="2885726" cy="141577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2F75DDD-8FAC-423E-87FB-5D62741FF7B1}"/>
                </a:ext>
              </a:extLst>
            </p:cNvPr>
            <p:cNvSpPr txBox="1"/>
            <p:nvPr/>
          </p:nvSpPr>
          <p:spPr>
            <a:xfrm>
              <a:off x="901700" y="2721114"/>
              <a:ext cx="188865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latin typeface="+mj-lt"/>
                </a:rPr>
                <a:t>Part 1</a:t>
              </a:r>
              <a:endParaRPr lang="ko-KR" altLang="en-US" sz="4400" dirty="0">
                <a:latin typeface="+mj-lt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8839C2-BAAB-4531-A42C-39A13C09E321}"/>
                </a:ext>
              </a:extLst>
            </p:cNvPr>
            <p:cNvSpPr txBox="1"/>
            <p:nvPr/>
          </p:nvSpPr>
          <p:spPr>
            <a:xfrm>
              <a:off x="901700" y="3490555"/>
              <a:ext cx="288572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spc="-300" dirty="0" smtClean="0"/>
                <a:t>주제 및 기획의도</a:t>
              </a:r>
              <a:endParaRPr lang="ko-KR" altLang="en-US" sz="3600" spc="-3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75666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8" y="345588"/>
            <a:ext cx="408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</a:t>
            </a:r>
            <a:r>
              <a:rPr lang="en-US" altLang="ko-KR" dirty="0" smtClean="0">
                <a:solidFill>
                  <a:schemeClr val="accent4"/>
                </a:solidFill>
              </a:rPr>
              <a:t>1 </a:t>
            </a:r>
            <a:r>
              <a:rPr lang="ko-KR" altLang="en-US" dirty="0" smtClean="0">
                <a:solidFill>
                  <a:schemeClr val="accent4"/>
                </a:solidFill>
              </a:rPr>
              <a:t>주제 및 </a:t>
            </a:r>
            <a:r>
              <a:rPr lang="ko-KR" altLang="en-US" dirty="0" smtClean="0">
                <a:solidFill>
                  <a:schemeClr val="accent4"/>
                </a:solidFill>
              </a:rPr>
              <a:t>기획의도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7" y="1361036"/>
            <a:ext cx="4959581" cy="4019550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>
          <a:xfrm>
            <a:off x="5893724" y="345588"/>
            <a:ext cx="8312" cy="6304594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93724" y="394692"/>
            <a:ext cx="6122189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400</a:t>
            </a:r>
            <a:r>
              <a:rPr lang="ko-KR" altLang="en-US" dirty="0" smtClean="0"/>
              <a:t>년 전통의 </a:t>
            </a:r>
            <a:r>
              <a:rPr lang="ko-KR" altLang="en-US" dirty="0" err="1" smtClean="0"/>
              <a:t>발사믹</a:t>
            </a:r>
            <a:r>
              <a:rPr lang="ko-KR" altLang="en-US" dirty="0" smtClean="0"/>
              <a:t> 식초 브랜드 </a:t>
            </a:r>
            <a:r>
              <a:rPr lang="en-US" altLang="ko-KR" dirty="0" smtClean="0"/>
              <a:t>‘</a:t>
            </a:r>
            <a:r>
              <a:rPr lang="ko-KR" altLang="en-US" dirty="0" err="1" smtClean="0"/>
              <a:t>주세페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주스티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의 </a:t>
            </a:r>
            <a:endParaRPr lang="en-US" altLang="ko-KR" dirty="0" smtClean="0"/>
          </a:p>
          <a:p>
            <a:r>
              <a:rPr lang="en-US" altLang="ko-KR" dirty="0" smtClean="0"/>
              <a:t>    </a:t>
            </a:r>
            <a:r>
              <a:rPr lang="ko-KR" altLang="en-US" dirty="0" smtClean="0"/>
              <a:t>사이트 </a:t>
            </a:r>
            <a:r>
              <a:rPr lang="ko-KR" altLang="en-US" dirty="0" err="1" smtClean="0"/>
              <a:t>리뉴얼</a:t>
            </a:r>
            <a:endParaRPr lang="en-US" altLang="ko-KR" dirty="0" smtClean="0"/>
          </a:p>
          <a:p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모바일 </a:t>
            </a:r>
            <a:r>
              <a:rPr lang="ko-KR" altLang="en-US" dirty="0" err="1"/>
              <a:t>토글</a:t>
            </a:r>
            <a:r>
              <a:rPr lang="ko-KR" altLang="en-US" dirty="0"/>
              <a:t> 메뉴 </a:t>
            </a:r>
            <a:r>
              <a:rPr lang="ko-KR" altLang="en-US" dirty="0" err="1"/>
              <a:t>클릭시</a:t>
            </a:r>
            <a:r>
              <a:rPr lang="ko-KR" altLang="en-US" dirty="0"/>
              <a:t> 배경과 분리되는 효과 수정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전체 제품 및 </a:t>
            </a:r>
            <a:r>
              <a:rPr lang="ko-KR" altLang="en-US" dirty="0" err="1" smtClean="0"/>
              <a:t>협력사가</a:t>
            </a:r>
            <a:r>
              <a:rPr lang="ko-KR" altLang="en-US" dirty="0" smtClean="0"/>
              <a:t> 모두 나열되어 있어 복잡하게 느껴질 수 있는</a:t>
            </a:r>
            <a:r>
              <a:rPr lang="en-US" altLang="ko-KR" dirty="0"/>
              <a:t> </a:t>
            </a:r>
            <a:r>
              <a:rPr lang="ko-KR" altLang="en-US" dirty="0" smtClean="0"/>
              <a:t>메인 </a:t>
            </a:r>
            <a:r>
              <a:rPr lang="ko-KR" altLang="en-US" dirty="0" smtClean="0"/>
              <a:t>페이지에 중심 컨텐츠만</a:t>
            </a:r>
            <a:r>
              <a:rPr lang="en-US" altLang="ko-KR" dirty="0" smtClean="0"/>
              <a:t> </a:t>
            </a:r>
            <a:r>
              <a:rPr lang="ko-KR" altLang="en-US" dirty="0" smtClean="0"/>
              <a:t>담아 깔끔하게 보일 수 있도록 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선물용으로 판매되는 경우가 많은 제품인 만큼 선물용 </a:t>
            </a:r>
            <a:r>
              <a:rPr lang="ko-KR" altLang="en-US" dirty="0" err="1" smtClean="0"/>
              <a:t>패키지</a:t>
            </a:r>
            <a:r>
              <a:rPr lang="ko-KR" altLang="en-US" dirty="0" err="1" smtClean="0"/>
              <a:t>에</a:t>
            </a:r>
            <a:r>
              <a:rPr lang="ko-KR" altLang="en-US" dirty="0" err="1" smtClean="0"/>
              <a:t>대한</a:t>
            </a:r>
            <a:r>
              <a:rPr lang="en-US" altLang="ko-KR" dirty="0" smtClean="0"/>
              <a:t> </a:t>
            </a:r>
            <a:r>
              <a:rPr lang="ko-KR" altLang="en-US" dirty="0" smtClean="0"/>
              <a:t>내용을 </a:t>
            </a:r>
            <a:r>
              <a:rPr lang="ko-KR" altLang="en-US" dirty="0" smtClean="0"/>
              <a:t>추가한다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타사 사이트를 통하지 않는 직접 판매를 통해 이익 최대화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</a:t>
            </a:r>
            <a:r>
              <a:rPr lang="ko-KR" altLang="en-US" dirty="0"/>
              <a:t>맞춤형 마케팅</a:t>
            </a:r>
            <a:r>
              <a:rPr lang="en-US" altLang="ko-KR" dirty="0"/>
              <a:t>, </a:t>
            </a:r>
            <a:r>
              <a:rPr lang="ko-KR" altLang="en-US" dirty="0"/>
              <a:t>고객과의 직접 접촉을 통한 마케팅 효과를 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기대해 볼 수 있다</a:t>
            </a:r>
            <a:r>
              <a:rPr lang="en-US" altLang="ko-KR" dirty="0"/>
              <a:t>.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69579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8" y="345588"/>
            <a:ext cx="408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</a:t>
            </a:r>
            <a:r>
              <a:rPr lang="en-US" altLang="ko-KR" dirty="0" smtClean="0">
                <a:solidFill>
                  <a:schemeClr val="accent4"/>
                </a:solidFill>
              </a:rPr>
              <a:t>1 </a:t>
            </a:r>
            <a:r>
              <a:rPr lang="ko-KR" altLang="en-US" dirty="0" smtClean="0">
                <a:solidFill>
                  <a:schemeClr val="accent4"/>
                </a:solidFill>
              </a:rPr>
              <a:t>주제 및 </a:t>
            </a:r>
            <a:r>
              <a:rPr lang="ko-KR" altLang="en-US" dirty="0" smtClean="0">
                <a:solidFill>
                  <a:schemeClr val="accent4"/>
                </a:solidFill>
              </a:rPr>
              <a:t>기획의도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5893724" y="345588"/>
            <a:ext cx="8312" cy="6304594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8824204" y="6274423"/>
            <a:ext cx="28761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/>
              <a:t>참고 사이트</a:t>
            </a:r>
            <a:r>
              <a:rPr lang="en-US" altLang="ko-KR" sz="1600" dirty="0"/>
              <a:t>:https://giusti.kr/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96" y="870007"/>
            <a:ext cx="3111380" cy="577374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433" y="876434"/>
            <a:ext cx="3111380" cy="577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8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B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양쪽 대괄호 3">
            <a:extLst>
              <a:ext uri="{FF2B5EF4-FFF2-40B4-BE49-F238E27FC236}">
                <a16:creationId xmlns:a16="http://schemas.microsoft.com/office/drawing/2014/main" id="{AEBCEBE6-A4C2-4FFB-B291-7650A0C5D976}"/>
              </a:ext>
            </a:extLst>
          </p:cNvPr>
          <p:cNvSpPr/>
          <p:nvPr/>
        </p:nvSpPr>
        <p:spPr>
          <a:xfrm>
            <a:off x="6719606" y="1656687"/>
            <a:ext cx="4591398" cy="4550733"/>
          </a:xfrm>
          <a:prstGeom prst="bracketPair">
            <a:avLst>
              <a:gd name="adj" fmla="val 1116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8" y="345588"/>
            <a:ext cx="408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</a:t>
            </a:r>
            <a:r>
              <a:rPr lang="en-US" altLang="ko-KR" dirty="0" smtClean="0">
                <a:solidFill>
                  <a:schemeClr val="accent4"/>
                </a:solidFill>
              </a:rPr>
              <a:t>1 </a:t>
            </a:r>
            <a:r>
              <a:rPr lang="ko-KR" altLang="en-US" dirty="0" smtClean="0">
                <a:solidFill>
                  <a:schemeClr val="accent4"/>
                </a:solidFill>
              </a:rPr>
              <a:t>개발 언어 및 툴</a:t>
            </a:r>
            <a:r>
              <a:rPr lang="en-US" altLang="ko-KR" dirty="0" smtClean="0">
                <a:solidFill>
                  <a:schemeClr val="accent4"/>
                </a:solidFill>
              </a:rPr>
              <a:t> 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9" name="양쪽 대괄호 8">
            <a:extLst>
              <a:ext uri="{FF2B5EF4-FFF2-40B4-BE49-F238E27FC236}">
                <a16:creationId xmlns:a16="http://schemas.microsoft.com/office/drawing/2014/main" id="{AEBCEBE6-A4C2-4FFB-B291-7650A0C5D976}"/>
              </a:ext>
            </a:extLst>
          </p:cNvPr>
          <p:cNvSpPr/>
          <p:nvPr/>
        </p:nvSpPr>
        <p:spPr>
          <a:xfrm>
            <a:off x="1022350" y="1656688"/>
            <a:ext cx="4591398" cy="4550733"/>
          </a:xfrm>
          <a:prstGeom prst="bracketPair">
            <a:avLst>
              <a:gd name="adj" fmla="val 1116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627957" y="1472021"/>
            <a:ext cx="1691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Develop</a:t>
            </a:r>
            <a:endParaRPr lang="ko-KR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7315" y="1472021"/>
            <a:ext cx="1224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  <a:endParaRPr lang="ko-KR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727" y="2289527"/>
            <a:ext cx="745214" cy="745214"/>
          </a:xfrm>
          <a:prstGeom prst="rect">
            <a:avLst/>
          </a:prstGeom>
        </p:spPr>
      </p:pic>
      <p:sp>
        <p:nvSpPr>
          <p:cNvPr id="15" name="TextBox 40"/>
          <p:cNvSpPr txBox="1"/>
          <p:nvPr/>
        </p:nvSpPr>
        <p:spPr>
          <a:xfrm>
            <a:off x="7152362" y="3044597"/>
            <a:ext cx="12442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rgbClr val="00153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Adobe Photoshop</a:t>
            </a:r>
            <a:endParaRPr lang="ko-KR" altLang="en-US" sz="1000" dirty="0">
              <a:solidFill>
                <a:srgbClr val="00153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1655883" y="2309229"/>
            <a:ext cx="1855282" cy="1014874"/>
            <a:chOff x="9031658" y="1959380"/>
            <a:chExt cx="1855282" cy="1014874"/>
          </a:xfrm>
        </p:grpSpPr>
        <p:grpSp>
          <p:nvGrpSpPr>
            <p:cNvPr id="17" name="그룹 16"/>
            <p:cNvGrpSpPr/>
            <p:nvPr/>
          </p:nvGrpSpPr>
          <p:grpSpPr>
            <a:xfrm>
              <a:off x="9031658" y="1959380"/>
              <a:ext cx="653624" cy="1004679"/>
              <a:chOff x="9022850" y="2018730"/>
              <a:chExt cx="653624" cy="1004679"/>
            </a:xfrm>
          </p:grpSpPr>
          <p:pic>
            <p:nvPicPr>
              <p:cNvPr id="21" name="그림 20"/>
              <p:cNvPicPr>
                <a:picLocks noChangeAspect="1"/>
              </p:cNvPicPr>
              <p:nvPr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648" t="14073" r="18908" b="14594"/>
              <a:stretch/>
            </p:blipFill>
            <p:spPr>
              <a:xfrm>
                <a:off x="9022850" y="2018730"/>
                <a:ext cx="653624" cy="746667"/>
              </a:xfrm>
              <a:prstGeom prst="rect">
                <a:avLst/>
              </a:prstGeom>
            </p:spPr>
          </p:pic>
          <p:sp>
            <p:nvSpPr>
              <p:cNvPr id="22" name="TextBox 55"/>
              <p:cNvSpPr txBox="1"/>
              <p:nvPr/>
            </p:nvSpPr>
            <p:spPr>
              <a:xfrm>
                <a:off x="9087411" y="2777188"/>
                <a:ext cx="5357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000" dirty="0">
                    <a:solidFill>
                      <a:srgbClr val="00153D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HTML</a:t>
                </a:r>
                <a:endParaRPr lang="ko-KR" altLang="en-US" sz="1000" dirty="0">
                  <a:solidFill>
                    <a:srgbClr val="00153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10237968" y="1985851"/>
              <a:ext cx="648972" cy="988403"/>
              <a:chOff x="10229160" y="2042297"/>
              <a:chExt cx="648972" cy="988403"/>
            </a:xfrm>
          </p:grpSpPr>
          <p:pic>
            <p:nvPicPr>
              <p:cNvPr id="19" name="그림 18"/>
              <p:cNvPicPr>
                <a:picLocks noChangeAspect="1"/>
              </p:cNvPicPr>
              <p:nvPr/>
            </p:nvPicPr>
            <p:blipFill rotWithShape="1">
              <a:blip r:embed="rId4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741" t="14333" r="19258" b="15334"/>
              <a:stretch/>
            </p:blipFill>
            <p:spPr>
              <a:xfrm>
                <a:off x="10229160" y="2042297"/>
                <a:ext cx="648972" cy="736199"/>
              </a:xfrm>
              <a:prstGeom prst="rect">
                <a:avLst/>
              </a:prstGeom>
            </p:spPr>
          </p:pic>
          <p:sp>
            <p:nvSpPr>
              <p:cNvPr id="20" name="TextBox 53"/>
              <p:cNvSpPr txBox="1"/>
              <p:nvPr/>
            </p:nvSpPr>
            <p:spPr>
              <a:xfrm>
                <a:off x="10351507" y="2784479"/>
                <a:ext cx="41229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000" dirty="0">
                    <a:solidFill>
                      <a:srgbClr val="00153D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CSS</a:t>
                </a:r>
                <a:endParaRPr lang="ko-KR" altLang="en-US" sz="1000" dirty="0">
                  <a:solidFill>
                    <a:srgbClr val="00153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061" y="3713097"/>
            <a:ext cx="765767" cy="765767"/>
          </a:xfrm>
          <a:prstGeom prst="rect">
            <a:avLst/>
          </a:prstGeom>
        </p:spPr>
      </p:pic>
      <p:sp>
        <p:nvSpPr>
          <p:cNvPr id="24" name="TextBox 48"/>
          <p:cNvSpPr txBox="1"/>
          <p:nvPr/>
        </p:nvSpPr>
        <p:spPr>
          <a:xfrm>
            <a:off x="1561898" y="4500153"/>
            <a:ext cx="946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>
                <a:solidFill>
                  <a:srgbClr val="00153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Visual Studio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631108" y="2289527"/>
            <a:ext cx="740243" cy="745214"/>
          </a:xfrm>
          <a:prstGeom prst="rect">
            <a:avLst/>
          </a:prstGeom>
        </p:spPr>
      </p:pic>
      <p:sp>
        <p:nvSpPr>
          <p:cNvPr id="28" name="TextBox 40"/>
          <p:cNvSpPr txBox="1"/>
          <p:nvPr/>
        </p:nvSpPr>
        <p:spPr>
          <a:xfrm>
            <a:off x="8627445" y="3061878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rgbClr val="00153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Adobe</a:t>
            </a:r>
            <a:r>
              <a:rPr lang="ko-KR" altLang="en-US" sz="1000" dirty="0">
                <a:solidFill>
                  <a:srgbClr val="00153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smtClean="0">
                <a:solidFill>
                  <a:srgbClr val="00153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XD</a:t>
            </a:r>
            <a:endParaRPr lang="ko-KR" altLang="en-US" sz="1000" dirty="0">
              <a:solidFill>
                <a:srgbClr val="00153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847" y="2289527"/>
            <a:ext cx="860941" cy="860941"/>
          </a:xfrm>
          <a:prstGeom prst="rect">
            <a:avLst/>
          </a:prstGeom>
        </p:spPr>
      </p:pic>
      <p:sp>
        <p:nvSpPr>
          <p:cNvPr id="30" name="TextBox 53"/>
          <p:cNvSpPr txBox="1"/>
          <p:nvPr/>
        </p:nvSpPr>
        <p:spPr>
          <a:xfrm>
            <a:off x="4125204" y="3088914"/>
            <a:ext cx="5806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 smtClean="0">
                <a:solidFill>
                  <a:srgbClr val="00153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JQuery</a:t>
            </a:r>
            <a:endParaRPr lang="ko-KR" altLang="en-US" sz="1000" dirty="0">
              <a:solidFill>
                <a:srgbClr val="00153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584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245DB8B0-BCF9-4A29-9197-7A48AFB9D1DC}"/>
              </a:ext>
            </a:extLst>
          </p:cNvPr>
          <p:cNvGrpSpPr/>
          <p:nvPr/>
        </p:nvGrpSpPr>
        <p:grpSpPr>
          <a:xfrm>
            <a:off x="901700" y="2721114"/>
            <a:ext cx="4027064" cy="1415772"/>
            <a:chOff x="901700" y="2721114"/>
            <a:chExt cx="4027064" cy="141577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2F75DDD-8FAC-423E-87FB-5D62741FF7B1}"/>
                </a:ext>
              </a:extLst>
            </p:cNvPr>
            <p:cNvSpPr txBox="1"/>
            <p:nvPr/>
          </p:nvSpPr>
          <p:spPr>
            <a:xfrm>
              <a:off x="901700" y="2721114"/>
              <a:ext cx="199605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latin typeface="+mj-lt"/>
                </a:rPr>
                <a:t>Part </a:t>
              </a:r>
              <a:r>
                <a:rPr lang="en-US" altLang="ko-KR" sz="4400" dirty="0" smtClean="0">
                  <a:latin typeface="+mj-lt"/>
                </a:rPr>
                <a:t>2</a:t>
              </a:r>
              <a:endParaRPr lang="ko-KR" altLang="en-US" sz="4400" dirty="0">
                <a:latin typeface="+mj-lt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8839C2-BAAB-4531-A42C-39A13C09E321}"/>
                </a:ext>
              </a:extLst>
            </p:cNvPr>
            <p:cNvSpPr txBox="1"/>
            <p:nvPr/>
          </p:nvSpPr>
          <p:spPr>
            <a:xfrm>
              <a:off x="901700" y="3490555"/>
              <a:ext cx="40270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spc="-300" dirty="0">
                  <a:latin typeface="+mn-ea"/>
                </a:rPr>
                <a:t>UI /UX </a:t>
              </a:r>
              <a:r>
                <a:rPr lang="ko-KR" altLang="en-US" sz="3600" spc="-300" dirty="0">
                  <a:latin typeface="+mn-ea"/>
                </a:rPr>
                <a:t>스타일 및 디자인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594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154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 smtClean="0">
                <a:solidFill>
                  <a:schemeClr val="accent4"/>
                </a:solidFill>
              </a:rPr>
              <a:t>와이어 프레임</a:t>
            </a:r>
            <a:endParaRPr lang="ko-KR" altLang="en-US" sz="32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</a:t>
            </a:r>
            <a:r>
              <a:rPr lang="en-US" altLang="ko-KR" dirty="0" smtClean="0">
                <a:solidFill>
                  <a:schemeClr val="accent4"/>
                </a:solidFill>
              </a:rPr>
              <a:t>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59505" y="1239340"/>
            <a:ext cx="1503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태</a:t>
            </a:r>
            <a:r>
              <a:rPr lang="ko-KR" altLang="en-US" sz="1200" dirty="0" smtClean="0"/>
              <a:t>블릿 모드</a:t>
            </a:r>
            <a:r>
              <a:rPr lang="en-US" altLang="ko-KR" sz="1200" dirty="0" smtClean="0"/>
              <a:t>(750PX)</a:t>
            </a:r>
            <a:endParaRPr lang="ko-KR" alt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9419764" y="363701"/>
            <a:ext cx="1468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모바일 모드</a:t>
            </a:r>
            <a:r>
              <a:rPr lang="en-US" altLang="ko-KR" sz="1200" dirty="0" smtClean="0"/>
              <a:t>(430PX)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505" y="1531727"/>
            <a:ext cx="4286848" cy="503191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625" y="330200"/>
            <a:ext cx="2119139" cy="638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2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154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 smtClean="0">
                <a:solidFill>
                  <a:schemeClr val="accent4"/>
                </a:solidFill>
              </a:rPr>
              <a:t>스타일 가이드</a:t>
            </a:r>
            <a:endParaRPr lang="ko-KR" altLang="en-US" sz="32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</a:t>
            </a:r>
            <a:r>
              <a:rPr lang="en-US" altLang="ko-KR" dirty="0" smtClean="0">
                <a:solidFill>
                  <a:schemeClr val="accent4"/>
                </a:solidFill>
              </a:rPr>
              <a:t>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ABC1F0A-392E-49CD-956A-2DD195464699}"/>
              </a:ext>
            </a:extLst>
          </p:cNvPr>
          <p:cNvCxnSpPr/>
          <p:nvPr/>
        </p:nvCxnSpPr>
        <p:spPr>
          <a:xfrm>
            <a:off x="1313777" y="5969726"/>
            <a:ext cx="203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A4BEAA5-02E6-4FBC-93A9-CE46F6FD0CFE}"/>
              </a:ext>
            </a:extLst>
          </p:cNvPr>
          <p:cNvSpPr txBox="1"/>
          <p:nvPr/>
        </p:nvSpPr>
        <p:spPr>
          <a:xfrm>
            <a:off x="1438328" y="6023984"/>
            <a:ext cx="157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#424242</a:t>
            </a:r>
            <a:endParaRPr lang="ko-KR" altLang="en-US" sz="1400" dirty="0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8057A6D-54BA-43D0-B167-EF8B2E74635C}"/>
              </a:ext>
            </a:extLst>
          </p:cNvPr>
          <p:cNvCxnSpPr/>
          <p:nvPr/>
        </p:nvCxnSpPr>
        <p:spPr>
          <a:xfrm>
            <a:off x="3530872" y="5969726"/>
            <a:ext cx="203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0FD33A5-75B4-4F4E-A052-F72A0BA49053}"/>
              </a:ext>
            </a:extLst>
          </p:cNvPr>
          <p:cNvSpPr txBox="1"/>
          <p:nvPr/>
        </p:nvSpPr>
        <p:spPr>
          <a:xfrm>
            <a:off x="4006614" y="6023984"/>
            <a:ext cx="986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#FFFFFF</a:t>
            </a:r>
            <a:endParaRPr lang="ko-KR" altLang="en-US" sz="1400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6CE71B90-FB24-4C88-A8D8-8D35B256BC92}"/>
              </a:ext>
            </a:extLst>
          </p:cNvPr>
          <p:cNvCxnSpPr/>
          <p:nvPr/>
        </p:nvCxnSpPr>
        <p:spPr>
          <a:xfrm>
            <a:off x="5781613" y="5973007"/>
            <a:ext cx="203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2FF5167-02CE-4252-B4D1-E2484223B8D8}"/>
              </a:ext>
            </a:extLst>
          </p:cNvPr>
          <p:cNvSpPr txBox="1"/>
          <p:nvPr/>
        </p:nvSpPr>
        <p:spPr>
          <a:xfrm>
            <a:off x="6227638" y="6023984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#F6F3F0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4C6202-265F-403D-AFF8-59D1516E5778}"/>
              </a:ext>
            </a:extLst>
          </p:cNvPr>
          <p:cNvSpPr txBox="1"/>
          <p:nvPr/>
        </p:nvSpPr>
        <p:spPr>
          <a:xfrm flipH="1">
            <a:off x="1438328" y="1955685"/>
            <a:ext cx="697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001</a:t>
            </a:r>
            <a:endParaRPr lang="ko-KR" altLang="en-US" sz="20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B13E7A-992D-471B-A355-C9C59E4475B1}"/>
              </a:ext>
            </a:extLst>
          </p:cNvPr>
          <p:cNvSpPr txBox="1"/>
          <p:nvPr/>
        </p:nvSpPr>
        <p:spPr>
          <a:xfrm flipH="1">
            <a:off x="3680373" y="1979167"/>
            <a:ext cx="819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002</a:t>
            </a:r>
            <a:endParaRPr lang="ko-KR" altLang="en-US" sz="20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839206-4841-4048-AF19-D322CC10F9FE}"/>
              </a:ext>
            </a:extLst>
          </p:cNvPr>
          <p:cNvSpPr txBox="1"/>
          <p:nvPr/>
        </p:nvSpPr>
        <p:spPr>
          <a:xfrm flipH="1">
            <a:off x="5876452" y="1954639"/>
            <a:ext cx="819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003</a:t>
            </a:r>
            <a:endParaRPr lang="ko-KR" altLang="en-US" sz="2000" b="1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3AB5B04-AE19-4C19-90FA-D6478D209EC7}"/>
              </a:ext>
            </a:extLst>
          </p:cNvPr>
          <p:cNvSpPr/>
          <p:nvPr/>
        </p:nvSpPr>
        <p:spPr>
          <a:xfrm>
            <a:off x="1516673" y="2560485"/>
            <a:ext cx="1632559" cy="303865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19343D4-9148-4818-A634-5C1B567F8E40}"/>
              </a:ext>
            </a:extLst>
          </p:cNvPr>
          <p:cNvSpPr/>
          <p:nvPr/>
        </p:nvSpPr>
        <p:spPr>
          <a:xfrm>
            <a:off x="5986389" y="2560485"/>
            <a:ext cx="1628799" cy="303865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8455183" y="4822214"/>
            <a:ext cx="26503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/>
              <a:t>Noto Sans </a:t>
            </a:r>
            <a:r>
              <a:rPr lang="en-US" altLang="ko-KR" dirty="0" smtClean="0"/>
              <a:t>Korean</a:t>
            </a:r>
          </a:p>
          <a:p>
            <a:pPr fontAlgn="base"/>
            <a:r>
              <a:rPr lang="en-US" altLang="ko-KR" dirty="0" err="1" smtClean="0"/>
              <a:t>Roboto</a:t>
            </a:r>
            <a:endParaRPr lang="en-US" altLang="ko-KR" dirty="0"/>
          </a:p>
          <a:p>
            <a:pPr fontAlgn="base"/>
            <a:r>
              <a:rPr lang="en-US" altLang="ko-KR" dirty="0"/>
              <a:t>Montserrat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FF1298-7AC9-429F-AE7F-5787CEE2B979}"/>
              </a:ext>
            </a:extLst>
          </p:cNvPr>
          <p:cNvSpPr/>
          <p:nvPr/>
        </p:nvSpPr>
        <p:spPr>
          <a:xfrm>
            <a:off x="3732595" y="2560485"/>
            <a:ext cx="1634903" cy="303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349267" y="1431266"/>
            <a:ext cx="10134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u="sng" dirty="0" smtClean="0"/>
              <a:t>Colors</a:t>
            </a:r>
            <a:endParaRPr lang="ko-KR" altLang="en-US" sz="2000" b="1" u="sng" dirty="0"/>
          </a:p>
        </p:txBody>
      </p:sp>
      <p:sp>
        <p:nvSpPr>
          <p:cNvPr id="29" name="TextBox 28"/>
          <p:cNvSpPr txBox="1"/>
          <p:nvPr/>
        </p:nvSpPr>
        <p:spPr>
          <a:xfrm>
            <a:off x="8455183" y="4074258"/>
            <a:ext cx="1768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u="sng" dirty="0" smtClean="0"/>
              <a:t>Typography</a:t>
            </a:r>
            <a:endParaRPr lang="ko-KR" altLang="en-US" sz="2000" b="1" u="sng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CE71B90-FB24-4C88-A8D8-8D35B256BC92}"/>
              </a:ext>
            </a:extLst>
          </p:cNvPr>
          <p:cNvCxnSpPr/>
          <p:nvPr/>
        </p:nvCxnSpPr>
        <p:spPr>
          <a:xfrm>
            <a:off x="8455183" y="5969906"/>
            <a:ext cx="203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491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816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 err="1" smtClean="0">
                <a:solidFill>
                  <a:schemeClr val="accent4"/>
                </a:solidFill>
              </a:rPr>
              <a:t>목업</a:t>
            </a:r>
            <a:endParaRPr lang="ko-KR" altLang="en-US" sz="32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</a:t>
            </a:r>
            <a:r>
              <a:rPr lang="en-US" altLang="ko-KR" dirty="0" smtClean="0">
                <a:solidFill>
                  <a:schemeClr val="accent4"/>
                </a:solidFill>
              </a:rPr>
              <a:t>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547" y="530254"/>
            <a:ext cx="4859593" cy="594892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239340"/>
            <a:ext cx="2542857" cy="51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3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245DB8B0-BCF9-4A29-9197-7A48AFB9D1DC}"/>
              </a:ext>
            </a:extLst>
          </p:cNvPr>
          <p:cNvGrpSpPr/>
          <p:nvPr/>
        </p:nvGrpSpPr>
        <p:grpSpPr>
          <a:xfrm>
            <a:off x="901700" y="2721114"/>
            <a:ext cx="2863284" cy="1415772"/>
            <a:chOff x="901700" y="2721114"/>
            <a:chExt cx="2863284" cy="141577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2F75DDD-8FAC-423E-87FB-5D62741FF7B1}"/>
                </a:ext>
              </a:extLst>
            </p:cNvPr>
            <p:cNvSpPr txBox="1"/>
            <p:nvPr/>
          </p:nvSpPr>
          <p:spPr>
            <a:xfrm>
              <a:off x="901700" y="2721114"/>
              <a:ext cx="199926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 smtClean="0">
                  <a:latin typeface="+mj-lt"/>
                </a:rPr>
                <a:t>Part 3</a:t>
              </a:r>
              <a:endParaRPr lang="ko-KR" altLang="en-US" sz="4400" dirty="0">
                <a:latin typeface="+mj-lt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8839C2-BAAB-4531-A42C-39A13C09E321}"/>
                </a:ext>
              </a:extLst>
            </p:cNvPr>
            <p:cNvSpPr txBox="1"/>
            <p:nvPr/>
          </p:nvSpPr>
          <p:spPr>
            <a:xfrm>
              <a:off x="901700" y="3490555"/>
              <a:ext cx="28632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spc="-300" dirty="0" smtClean="0">
                  <a:latin typeface="+mn-ea"/>
                </a:rPr>
                <a:t>자체평가 및 소감</a:t>
              </a:r>
              <a:endParaRPr lang="ko-KR" altLang="en-US" sz="3600" spc="-3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084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</a:t>
            </a:r>
            <a:r>
              <a:rPr lang="en-US" altLang="ko-KR" dirty="0">
                <a:solidFill>
                  <a:schemeClr val="accent4"/>
                </a:solidFill>
              </a:rPr>
              <a:t>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BBD442-B492-463C-A825-DF4C942428B8}"/>
              </a:ext>
            </a:extLst>
          </p:cNvPr>
          <p:cNvSpPr/>
          <p:nvPr/>
        </p:nvSpPr>
        <p:spPr>
          <a:xfrm>
            <a:off x="1870363" y="942818"/>
            <a:ext cx="8620299" cy="5486400"/>
          </a:xfrm>
          <a:prstGeom prst="rect">
            <a:avLst/>
          </a:prstGeom>
          <a:noFill/>
          <a:ln w="254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E54C08-9C52-4168-A9C2-6CE9895E3E85}"/>
              </a:ext>
            </a:extLst>
          </p:cNvPr>
          <p:cNvSpPr txBox="1"/>
          <p:nvPr/>
        </p:nvSpPr>
        <p:spPr>
          <a:xfrm>
            <a:off x="2562397" y="1117804"/>
            <a:ext cx="178567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chemeClr val="accent1"/>
                </a:solidFill>
              </a:rPr>
              <a:t>”</a:t>
            </a:r>
            <a:endParaRPr lang="ko-KR" altLang="en-US" sz="138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66FA55-0DF9-4A35-A014-2A5C359692EF}"/>
              </a:ext>
            </a:extLst>
          </p:cNvPr>
          <p:cNvSpPr txBox="1"/>
          <p:nvPr/>
        </p:nvSpPr>
        <p:spPr>
          <a:xfrm>
            <a:off x="2562397" y="2400916"/>
            <a:ext cx="723623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 smtClean="0"/>
              <a:t>이번 작업을 </a:t>
            </a:r>
            <a:r>
              <a:rPr lang="ko-KR" altLang="en-US" sz="2400" dirty="0"/>
              <a:t>진행하면서 예상보다 더 많은 어려움을 겪었지만</a:t>
            </a:r>
            <a:r>
              <a:rPr lang="en-US" altLang="ko-KR" sz="2400" dirty="0"/>
              <a:t>, </a:t>
            </a:r>
            <a:r>
              <a:rPr lang="ko-KR" altLang="en-US" sz="2400" dirty="0"/>
              <a:t>처음부터 끝까지 직접 해보는 </a:t>
            </a:r>
            <a:r>
              <a:rPr lang="ko-KR" altLang="en-US" sz="2400" dirty="0" smtClean="0"/>
              <a:t>과정에서 </a:t>
            </a:r>
            <a:r>
              <a:rPr lang="ko-KR" altLang="en-US" sz="2400" dirty="0"/>
              <a:t>많은 것을 </a:t>
            </a:r>
            <a:r>
              <a:rPr lang="ko-KR" altLang="en-US" sz="2400" dirty="0" smtClean="0"/>
              <a:t>배울 </a:t>
            </a:r>
            <a:r>
              <a:rPr lang="ko-KR" altLang="en-US" sz="2400" dirty="0"/>
              <a:t>수 있었습니다</a:t>
            </a:r>
            <a:r>
              <a:rPr lang="en-US" altLang="ko-KR" sz="2400" dirty="0"/>
              <a:t>. </a:t>
            </a:r>
            <a:r>
              <a:rPr lang="ko-KR" altLang="en-US" sz="2400" dirty="0" smtClean="0"/>
              <a:t>브랜드의 </a:t>
            </a:r>
            <a:r>
              <a:rPr lang="ko-KR" altLang="en-US" sz="2400" dirty="0"/>
              <a:t>분위기를 유지하면서 콘텐츠를 적절히 전달하는 것은 </a:t>
            </a:r>
            <a:r>
              <a:rPr lang="ko-KR" altLang="en-US" sz="2400" dirty="0" smtClean="0"/>
              <a:t>생각보다 어려운 일이었고</a:t>
            </a:r>
            <a:r>
              <a:rPr lang="en-US" altLang="ko-KR" sz="2400" dirty="0"/>
              <a:t>, </a:t>
            </a:r>
            <a:r>
              <a:rPr lang="ko-KR" altLang="en-US" sz="2400" dirty="0" smtClean="0"/>
              <a:t>특히</a:t>
            </a:r>
            <a:r>
              <a:rPr lang="en-US" altLang="ko-KR" sz="2400" dirty="0"/>
              <a:t> </a:t>
            </a:r>
            <a:r>
              <a:rPr lang="ko-KR" altLang="en-US" sz="2400" dirty="0" smtClean="0"/>
              <a:t>스스로 </a:t>
            </a:r>
            <a:r>
              <a:rPr lang="en-US" altLang="ko-KR" sz="2400" dirty="0"/>
              <a:t>typograph </a:t>
            </a:r>
            <a:r>
              <a:rPr lang="ko-KR" altLang="en-US" sz="2400" dirty="0"/>
              <a:t>부분에서 </a:t>
            </a:r>
            <a:r>
              <a:rPr lang="ko-KR" altLang="en-US" sz="2400" dirty="0" smtClean="0"/>
              <a:t>부족함을 많이 </a:t>
            </a:r>
            <a:r>
              <a:rPr lang="ko-KR" altLang="en-US" sz="2400" dirty="0"/>
              <a:t>느꼈습니다</a:t>
            </a:r>
            <a:r>
              <a:rPr lang="en-US" altLang="ko-KR" sz="2400" dirty="0"/>
              <a:t>. </a:t>
            </a:r>
            <a:r>
              <a:rPr lang="ko-KR" altLang="en-US" sz="2400" dirty="0"/>
              <a:t>다음에는 보다 </a:t>
            </a:r>
            <a:r>
              <a:rPr lang="ko-KR" altLang="en-US" sz="2400" dirty="0" smtClean="0"/>
              <a:t>완성도 있는 </a:t>
            </a:r>
            <a:r>
              <a:rPr lang="ko-KR" altLang="en-US" sz="2400" dirty="0"/>
              <a:t>결과물을 만들어내고 싶습니다</a:t>
            </a:r>
            <a:r>
              <a:rPr lang="en-US" altLang="ko-KR" sz="2400" dirty="0" smtClean="0"/>
              <a:t>. </a:t>
            </a:r>
            <a:r>
              <a:rPr lang="ko-KR" altLang="en-US" sz="2400" dirty="0" smtClean="0"/>
              <a:t>감사합니다</a:t>
            </a:r>
            <a:r>
              <a:rPr lang="en-US" altLang="ko-KR" sz="2400" dirty="0"/>
              <a:t>.</a:t>
            </a:r>
            <a:endParaRPr lang="en-US" altLang="ko-KR" sz="2400" dirty="0" smtClean="0"/>
          </a:p>
          <a:p>
            <a:pPr algn="just"/>
            <a:endParaRPr lang="en-US" altLang="ko-KR" sz="1600" dirty="0" smtClean="0"/>
          </a:p>
          <a:p>
            <a:pPr algn="just"/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1986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 ExtraBold">
      <a:majorFont>
        <a:latin typeface="Montserrat Black"/>
        <a:ea typeface="Pretendard ExtraBold"/>
        <a:cs typeface=""/>
      </a:majorFont>
      <a:minorFont>
        <a:latin typeface="Montserrat SemiBol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246</Words>
  <Application>Microsoft Office PowerPoint</Application>
  <PresentationFormat>와이드스크린</PresentationFormat>
  <Paragraphs>69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noto</vt:lpstr>
      <vt:lpstr>Pretendard</vt:lpstr>
      <vt:lpstr>Pretendard ExtraBold</vt:lpstr>
      <vt:lpstr>맑은 고딕</vt:lpstr>
      <vt:lpstr>Arial</vt:lpstr>
      <vt:lpstr>Montserrat Black</vt:lpstr>
      <vt:lpstr>Montserrat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YJ</cp:lastModifiedBy>
  <cp:revision>47</cp:revision>
  <dcterms:created xsi:type="dcterms:W3CDTF">2021-10-22T06:13:27Z</dcterms:created>
  <dcterms:modified xsi:type="dcterms:W3CDTF">2024-02-01T07:31:10Z</dcterms:modified>
</cp:coreProperties>
</file>